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Agentic Swarm: The AI Boardroom</a:t>
            </a:r>
          </a:p>
          <a:p>
            <a:pPr>
              <a:spcBef>
                <a:spcPts val="1000"/>
              </a:spcBef>
              <a:defRPr sz="2200">
                <a:solidFill>
                  <a:srgbClr val="009688"/>
                </a:solidFill>
              </a:defRPr>
            </a:pPr>
            <a:r>
              <a:t>Generic Pharma Decision-Engine Framework</a:t>
            </a:r>
          </a:p>
          <a:p>
            <a:br/>
            <a:pPr>
              <a:spcBef>
                <a:spcPts val="4000"/>
              </a:spcBef>
              <a:defRPr sz="1400">
                <a:solidFill>
                  <a:srgbClr val="FFFFFF"/>
                </a:solidFill>
              </a:defRPr>
            </a:pPr>
            <a:r>
              <a:t>• Problem: Black-box enterprise solutions obscure complex corporate logic and strategy evaluation.</a:t>
            </a:r>
            <a:br/>
            <a:r>
              <a:t>• Solution: Transparent, explainable LangGraph boardroom multi-agent framework managing generic pharma patent cliffs.</a:t>
            </a:r>
            <a:br/>
            <a:r>
              <a:t>• Team Identity: Team Juan | Lead Developer: Abhrodeep Ghosh (25BAI1616)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2043"/>
                </a:solidFill>
                <a:latin typeface="Arial"/>
              </a:defRPr>
            </a:pPr>
            <a:r>
              <a:t>Swarm Design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2043"/>
                </a:solidFill>
              </a:defRPr>
            </a:pPr>
            <a:r>
              <a:t>Core Nodes &amp; Shared State</a:t>
            </a:r>
          </a:p>
          <a:p>
            <a:pPr>
              <a:spcAft>
                <a:spcPts val="800"/>
              </a:spcAft>
              <a:defRPr sz="1200">
                <a:solidFill>
                  <a:srgbClr val="282C34"/>
                </a:solidFill>
              </a:defRPr>
            </a:pPr>
            <a:r>
              <a:t>• Business Research: Patent cliffs &amp; pricing</a:t>
            </a:r>
          </a:p>
          <a:p>
            <a:pPr>
              <a:spcAft>
                <a:spcPts val="800"/>
              </a:spcAft>
              <a:defRPr sz="1200">
                <a:solidFill>
                  <a:srgbClr val="282C34"/>
                </a:solidFill>
              </a:defRPr>
            </a:pPr>
            <a:r>
              <a:t>• CFO Node: Capital allocation &amp; margins</a:t>
            </a:r>
          </a:p>
          <a:p>
            <a:pPr>
              <a:spcAft>
                <a:spcPts val="800"/>
              </a:spcAft>
              <a:defRPr sz="1200">
                <a:solidFill>
                  <a:srgbClr val="282C34"/>
                </a:solidFill>
              </a:defRPr>
            </a:pPr>
            <a:r>
              <a:t>• Risk Control: Regulatory &amp; bioequivalence</a:t>
            </a:r>
          </a:p>
          <a:p>
            <a:pPr>
              <a:spcAft>
                <a:spcPts val="800"/>
              </a:spcAft>
              <a:defRPr sz="1200">
                <a:solidFill>
                  <a:srgbClr val="282C34"/>
                </a:solidFill>
              </a:defRPr>
            </a:pPr>
            <a:r>
              <a:t>• CMO Node: Marketing &amp; penetration</a:t>
            </a:r>
          </a:p>
          <a:p>
            <a:pPr>
              <a:spcAft>
                <a:spcPts val="800"/>
              </a:spcAft>
              <a:defRPr sz="1200">
                <a:solidFill>
                  <a:srgbClr val="282C34"/>
                </a:solidFill>
              </a:defRPr>
            </a:pPr>
            <a:r>
              <a:t>• Shared State: Unified LangGraph data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434840" y="164592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2043"/>
                </a:solidFill>
              </a:defRPr>
            </a:pPr>
            <a:r>
              <a:t>Inputs &amp; Orchestration</a:t>
            </a:r>
          </a:p>
          <a:p>
            <a:pPr>
              <a:spcAft>
                <a:spcPts val="800"/>
              </a:spcAft>
              <a:defRPr sz="1200">
                <a:solidFill>
                  <a:srgbClr val="282C34"/>
                </a:solidFill>
              </a:defRPr>
            </a:pPr>
            <a:r>
              <a:t>• Inputs: Market scenario briefs &amp; surprise events</a:t>
            </a:r>
          </a:p>
          <a:p>
            <a:pPr>
              <a:spcAft>
                <a:spcPts val="800"/>
              </a:spcAft>
              <a:defRPr sz="1200">
                <a:solidFill>
                  <a:srgbClr val="282C34"/>
                </a:solidFill>
              </a:defRPr>
            </a:pPr>
            <a:r>
              <a:t>• Communication: Orchestrated state updates</a:t>
            </a:r>
          </a:p>
          <a:p>
            <a:pPr>
              <a:spcAft>
                <a:spcPts val="800"/>
              </a:spcAft>
              <a:defRPr sz="1200">
                <a:solidFill>
                  <a:srgbClr val="282C34"/>
                </a:solidFill>
              </a:defRPr>
            </a:pPr>
            <a:r>
              <a:t>• CEO Path: Linear &amp; cyclic trace synthesis</a:t>
            </a:r>
          </a:p>
          <a:p>
            <a:pPr>
              <a:spcAft>
                <a:spcPts val="800"/>
              </a:spcAft>
              <a:defRPr sz="1200">
                <a:solidFill>
                  <a:srgbClr val="282C34"/>
                </a:solidFill>
              </a:defRPr>
            </a:pPr>
            <a:r>
              <a:t>• State Engine: LangGraph immutable history</a:t>
            </a:r>
          </a:p>
          <a:p>
            <a:pPr>
              <a:spcAft>
                <a:spcPts val="800"/>
              </a:spcAft>
              <a:defRPr sz="1200">
                <a:solidFill>
                  <a:srgbClr val="282C34"/>
                </a:solidFill>
              </a:defRPr>
            </a:pPr>
            <a:r>
              <a:t>• LLM Runtime: gemini-3.1-flash-lite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79" y="164592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59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2043"/>
                </a:solidFill>
              </a:defRPr>
            </a:pPr>
            <a:r>
              <a:t>Fail-Safe Infrastructure</a:t>
            </a:r>
          </a:p>
          <a:p>
            <a:pPr>
              <a:spcAft>
                <a:spcPts val="800"/>
              </a:spcAft>
              <a:defRPr sz="1200">
                <a:solidFill>
                  <a:srgbClr val="282C34"/>
                </a:solidFill>
              </a:defRPr>
            </a:pPr>
            <a:r>
              <a:t>• Multi-Key Loop: Automatic API backup fallbacks</a:t>
            </a:r>
          </a:p>
          <a:p>
            <a:pPr>
              <a:spcAft>
                <a:spcPts val="800"/>
              </a:spcAft>
              <a:defRPr sz="1200">
                <a:solidFill>
                  <a:srgbClr val="282C34"/>
                </a:solidFill>
              </a:defRPr>
            </a:pPr>
            <a:r>
              <a:t>• Rate Protection: Regulated execution delays</a:t>
            </a:r>
          </a:p>
          <a:p>
            <a:pPr>
              <a:spcAft>
                <a:spcPts val="800"/>
              </a:spcAft>
              <a:defRPr sz="1200">
                <a:solidFill>
                  <a:srgbClr val="282C34"/>
                </a:solidFill>
              </a:defRPr>
            </a:pPr>
            <a:r>
              <a:t>• Hardcoded Failsafes: Crashless fallback loops</a:t>
            </a:r>
          </a:p>
          <a:p>
            <a:pPr>
              <a:spcAft>
                <a:spcPts val="800"/>
              </a:spcAft>
              <a:defRPr sz="1200">
                <a:solidFill>
                  <a:srgbClr val="282C34"/>
                </a:solidFill>
              </a:defRPr>
            </a:pPr>
            <a:r>
              <a:t>• Production Guard: Resilient zero-downtime execution</a:t>
            </a:r>
          </a:p>
          <a:p>
            <a:pPr>
              <a:spcAft>
                <a:spcPts val="800"/>
              </a:spcAft>
              <a:defRPr sz="1200">
                <a:solidFill>
                  <a:srgbClr val="282C34"/>
                </a:solidFill>
              </a:defRPr>
            </a:pPr>
            <a:r>
              <a:t>• Traceability: Step-by-step conflict state logs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2043"/>
                </a:solidFill>
                <a:latin typeface="Arial"/>
              </a:defRPr>
            </a:pPr>
            <a:r>
              <a:t>Live Demo &amp; Boardroom Trace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19202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645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9688"/>
                </a:solidFill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600" b="1">
                <a:solidFill>
                  <a:srgbClr val="0F2043"/>
                </a:solidFill>
              </a:defRPr>
            </a:pPr>
            <a:r>
              <a:t>Analyse</a:t>
            </a:r>
          </a:p>
          <a:p>
            <a:pPr>
              <a:spcBef>
                <a:spcPts val="800"/>
              </a:spcBef>
              <a:defRPr sz="1100">
                <a:solidFill>
                  <a:srgbClr val="282C34"/>
                </a:solidFill>
              </a:defRPr>
            </a:pPr>
            <a:r>
              <a:t>Independent scenario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360" y="1645920"/>
            <a:ext cx="19202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1828800"/>
            <a:ext cx="1645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9688"/>
                </a:solidFill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600" b="1">
                <a:solidFill>
                  <a:srgbClr val="0F2043"/>
                </a:solidFill>
              </a:defRPr>
            </a:pPr>
            <a:r>
              <a:t>Share</a:t>
            </a:r>
          </a:p>
          <a:p>
            <a:pPr>
              <a:spcBef>
                <a:spcPts val="800"/>
              </a:spcBef>
              <a:defRPr sz="1100">
                <a:solidFill>
                  <a:srgbClr val="282C34"/>
                </a:solidFill>
              </a:defRPr>
            </a:pPr>
            <a:r>
              <a:t>Constraints appended to global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645920"/>
            <a:ext cx="19202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1645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9688"/>
                </a:solidFill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600" b="1">
                <a:solidFill>
                  <a:srgbClr val="0F2043"/>
                </a:solidFill>
              </a:defRPr>
            </a:pPr>
            <a:r>
              <a:t>Challenge</a:t>
            </a:r>
          </a:p>
          <a:p>
            <a:pPr>
              <a:spcBef>
                <a:spcPts val="800"/>
              </a:spcBef>
              <a:defRPr sz="1100">
                <a:solidFill>
                  <a:srgbClr val="282C34"/>
                </a:solidFill>
              </a:defRPr>
            </a:pPr>
            <a:r>
              <a:t>Mandatory CFO-CMO cross-examination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1645920"/>
            <a:ext cx="19202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828800"/>
            <a:ext cx="1645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9688"/>
                </a:solidFill>
              </a:defRPr>
            </a:pPr>
            <a:r>
              <a:t>04</a:t>
            </a:r>
          </a:p>
          <a:p>
            <a:pPr>
              <a:spcBef>
                <a:spcPts val="600"/>
              </a:spcBef>
              <a:defRPr sz="1600" b="1">
                <a:solidFill>
                  <a:srgbClr val="0F2043"/>
                </a:solidFill>
              </a:defRPr>
            </a:pPr>
            <a:r>
              <a:t>Compare</a:t>
            </a:r>
          </a:p>
          <a:p>
            <a:pPr>
              <a:spcBef>
                <a:spcPts val="800"/>
              </a:spcBef>
              <a:defRPr sz="1100">
                <a:solidFill>
                  <a:srgbClr val="282C34"/>
                </a:solidFill>
              </a:defRPr>
            </a:pPr>
            <a:r>
              <a:t>Cyclic alternative trade-off iteration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64040" y="1645920"/>
            <a:ext cx="19202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1828800"/>
            <a:ext cx="1645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9688"/>
                </a:solidFill>
              </a:defRPr>
            </a:pPr>
            <a:r>
              <a:t>05</a:t>
            </a:r>
          </a:p>
          <a:p>
            <a:pPr>
              <a:spcBef>
                <a:spcPts val="600"/>
              </a:spcBef>
              <a:defRPr sz="1600" b="1">
                <a:solidFill>
                  <a:srgbClr val="0F2043"/>
                </a:solidFill>
              </a:defRPr>
            </a:pPr>
            <a:r>
              <a:t>Decide</a:t>
            </a:r>
          </a:p>
          <a:p>
            <a:pPr>
              <a:spcBef>
                <a:spcPts val="800"/>
              </a:spcBef>
              <a:defRPr sz="1100">
                <a:solidFill>
                  <a:srgbClr val="282C34"/>
                </a:solidFill>
              </a:defRPr>
            </a:pPr>
            <a:r>
              <a:t>CEO final actionable directive synthesis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389120"/>
            <a:ext cx="10789920" cy="18288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Deep-Dive Trace: Mandatory CFO vs. CMO Alignment Conflict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During the 'Challenge' phase, the framework triggers an automated friction node. The Finance Agent explicitly cross-examines marketing budget requests against minimum gross profit margins and capital reserves, driving realistic, heavily vetted compromises rather than simple unconstrained solutions.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2043"/>
                </a:solidFill>
                <a:latin typeface="Arial"/>
              </a:defRPr>
            </a:pPr>
            <a:r>
              <a:t>Dynamic Surprise Adaptation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9534F"/>
                </a:solidFill>
              </a:defRPr>
            </a:pPr>
            <a:r>
              <a:t>Market Shock Event Processing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Competitor Aggressive Price Undercutting: Instant profit margin hazard.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Sudden Regulatory Bioequivalence Failure: Halts timeline vectors.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Supply Chain API Interruption: Depletes emergency safety buffers.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Sudden Raw Material Cost Surcharges: Disrupts production pipelines.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5080" y="1645920"/>
            <a:ext cx="5120640" cy="4572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9688"/>
                </a:solidFill>
              </a:defRPr>
            </a:pPr>
            <a:r>
              <a:t>Zero-Rebuild Adaptation Logic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Dynamic State Mutation: Shocks modify running state vectors immediately.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Runtime Re-Routing: Graph paths loop back to re-analyze scenario parameters.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Live Context Injections: Real-time event text alters system instructions dynamically.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Static Safety Guards: Safe fallback execution routes trigger without redeployment.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2043"/>
                </a:solidFill>
                <a:latin typeface="Arial"/>
              </a:defRPr>
            </a:pPr>
            <a:r>
              <a:t>Business Summary, Risks &amp; KPIs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246888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2043"/>
                </a:solidFill>
              </a:defRPr>
            </a:pPr>
            <a:r>
              <a:t>Implementation Steps</a:t>
            </a:r>
          </a:p>
          <a:p>
            <a:pPr>
              <a:spcAft>
                <a:spcPts val="1000"/>
              </a:spcAft>
              <a:defRPr sz="1100">
                <a:solidFill>
                  <a:srgbClr val="282C34"/>
                </a:solidFill>
              </a:defRPr>
            </a:pPr>
            <a:r>
              <a:t>1. Baseline: Parse incoming briefs.</a:t>
            </a:r>
          </a:p>
          <a:p>
            <a:pPr>
              <a:spcAft>
                <a:spcPts val="1000"/>
              </a:spcAft>
              <a:defRPr sz="1100">
                <a:solidFill>
                  <a:srgbClr val="282C34"/>
                </a:solidFill>
              </a:defRPr>
            </a:pPr>
            <a:r>
              <a:t>2. Execution: Run multi-agent graph.</a:t>
            </a:r>
          </a:p>
          <a:p>
            <a:pPr>
              <a:spcAft>
                <a:spcPts val="1000"/>
              </a:spcAft>
              <a:defRPr sz="1100">
                <a:solidFill>
                  <a:srgbClr val="282C34"/>
                </a:solidFill>
              </a:defRPr>
            </a:pPr>
            <a:r>
              <a:t>3. Mitigation: Log state trade-offs.</a:t>
            </a:r>
          </a:p>
          <a:p>
            <a:pPr>
              <a:spcAft>
                <a:spcPts val="1000"/>
              </a:spcAft>
              <a:defRPr sz="1100">
                <a:solidFill>
                  <a:srgbClr val="282C34"/>
                </a:solidFill>
              </a:defRPr>
            </a:pPr>
            <a:r>
              <a:t>4. Delivery: Emit complete CEO memo.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1645920"/>
            <a:ext cx="246888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2043"/>
                </a:solidFill>
              </a:defRPr>
            </a:pPr>
            <a:r>
              <a:t>Core Assumptions</a:t>
            </a:r>
          </a:p>
          <a:p>
            <a:pPr>
              <a:spcAft>
                <a:spcPts val="1000"/>
              </a:spcAft>
              <a:defRPr sz="1100">
                <a:solidFill>
                  <a:srgbClr val="282C34"/>
                </a:solidFill>
              </a:defRPr>
            </a:pPr>
            <a:r>
              <a:t>• Patent expiration timelines are fixed.</a:t>
            </a:r>
          </a:p>
          <a:p>
            <a:pPr>
              <a:spcAft>
                <a:spcPts val="1000"/>
              </a:spcAft>
              <a:defRPr sz="1100">
                <a:solidFill>
                  <a:srgbClr val="282C34"/>
                </a:solidFill>
              </a:defRPr>
            </a:pPr>
            <a:r>
              <a:t>• Competitor data models are accessible.</a:t>
            </a:r>
          </a:p>
          <a:p>
            <a:pPr>
              <a:spcAft>
                <a:spcPts val="1000"/>
              </a:spcAft>
              <a:defRPr sz="1100">
                <a:solidFill>
                  <a:srgbClr val="282C34"/>
                </a:solidFill>
              </a:defRPr>
            </a:pPr>
            <a:r>
              <a:t>• Material costs remain bound.</a:t>
            </a:r>
          </a:p>
          <a:p>
            <a:pPr>
              <a:spcAft>
                <a:spcPts val="1000"/>
              </a:spcAft>
              <a:defRPr sz="1100">
                <a:solidFill>
                  <a:srgbClr val="282C34"/>
                </a:solidFill>
              </a:defRPr>
            </a:pPr>
            <a:r>
              <a:t>• Gemini API keys remain functional.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246888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D9534F"/>
                </a:solidFill>
              </a:defRPr>
            </a:pPr>
            <a:r>
              <a:t>Monitored Risks</a:t>
            </a:r>
          </a:p>
          <a:p>
            <a:pPr>
              <a:spcAft>
                <a:spcPts val="1000"/>
              </a:spcAft>
              <a:defRPr sz="1100">
                <a:solidFill>
                  <a:srgbClr val="282C34"/>
                </a:solidFill>
              </a:defRPr>
            </a:pPr>
            <a:r>
              <a:t>• Heavy rate limiting on free API tiers.</a:t>
            </a:r>
          </a:p>
          <a:p>
            <a:pPr>
              <a:spcAft>
                <a:spcPts val="1000"/>
              </a:spcAft>
              <a:defRPr sz="1100">
                <a:solidFill>
                  <a:srgbClr val="282C34"/>
                </a:solidFill>
              </a:defRPr>
            </a:pPr>
            <a:r>
              <a:t>• Potential hallucinations in risk logic.</a:t>
            </a:r>
          </a:p>
          <a:p>
            <a:pPr>
              <a:spcAft>
                <a:spcPts val="1000"/>
              </a:spcAft>
              <a:defRPr sz="1100">
                <a:solidFill>
                  <a:srgbClr val="282C34"/>
                </a:solidFill>
              </a:defRPr>
            </a:pPr>
            <a:r>
              <a:t>• Over-conservative strategy limits.</a:t>
            </a:r>
          </a:p>
          <a:p>
            <a:pPr>
              <a:spcAft>
                <a:spcPts val="1000"/>
              </a:spcAft>
              <a:defRPr sz="1100">
                <a:solidFill>
                  <a:srgbClr val="282C34"/>
                </a:solidFill>
              </a:defRPr>
            </a:pPr>
            <a:r>
              <a:t>• Sudden graph execution timeouts.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15400" y="1645920"/>
            <a:ext cx="2468880" cy="4572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2043"/>
                </a:solidFill>
              </a:defRPr>
            </a:pPr>
            <a:r>
              <a:t>Strategic Business KPIs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1. Market Launch Velocity: Target market entry timing.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2. Gross Profit Margin: Strict minimum threshold.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3. Penetration Volume: Commercial growth target.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